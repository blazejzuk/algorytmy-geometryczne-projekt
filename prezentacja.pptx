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74" r:id="rId11"/>
    <p:sldId id="276" r:id="rId12"/>
    <p:sldId id="269" r:id="rId13"/>
    <p:sldId id="271" r:id="rId14"/>
    <p:sldId id="264" r:id="rId15"/>
    <p:sldId id="267" r:id="rId16"/>
    <p:sldId id="268" r:id="rId17"/>
    <p:sldId id="265" r:id="rId18"/>
    <p:sldId id="270" r:id="rId1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5DAFFC-0662-D3FF-7BC7-8C123DDDC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2C008C5-E8C1-4B2C-DDFD-590DB274F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B847E93-0658-752F-5099-7E1C2027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9AEE851-9596-AF70-A3FB-CEA56B06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B9A40B-DAF8-E33E-5CEA-417A561E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744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79B871-5B89-A873-855C-29421270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B21168-694B-13A9-9177-F08D57C11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B9DF731-6052-05DA-6B7A-48FC8322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DE158DD-DEE9-A26A-5FB0-7B820867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70D4FDA-03FF-8345-4BD4-C33378C7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844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025B0D-3985-B0F7-DBE7-4EC2CC02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CDA2DF8-8431-2346-FC3E-BD8818E6D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6921E24-BA7D-9E19-3723-7F60446B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F4E509-59A0-BC09-AF8D-F6F4D035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0E5AA8-E3B4-F482-4998-38D90C86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467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0B7598-0213-FAC1-1C09-3BB18D67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CD7608-A4AD-1578-2E3B-EA177E65E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82DD0DF-F006-6ACA-F1FE-5673DF3D7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1568A23-2E59-B05C-2AE8-7F1DA5E5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FBF21C5-2622-37B3-8189-CF02F964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0F4C4D3-E6E0-411D-4321-F0E17851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526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933666-EDD2-7FB0-253F-EAE88D83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18EA8C2-8BCA-EDEB-9E13-AA3DD8385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4B1506F-BCC4-EC03-887D-753435B84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B2D6E96-1A47-9C1B-8997-A0BB5B5F4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9EBDCA6-6B97-B743-3669-C6E0D821E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E780609-97E1-4E69-3EAA-0078D22E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5553AF3-38FE-0A11-9A8E-8F89542A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B01170C-F0F6-6EB4-290B-0E2BB879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848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D3ABD7-1B50-CB66-90EB-73A19910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C0F424D-8B9D-61D2-3B8E-828A8281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8BFDB8D-93E9-3837-D2BC-F3D513B5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347B02C-752B-30B2-3604-ED0019BF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659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341452-A72A-5289-0946-481BB383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49960F0-2B1D-537F-4D02-100A4E2E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3B19BC1-657A-B30D-4B4A-11CFA34D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183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BB6D9A-CB32-88AF-F407-872CFCE9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6DDBFF-7EC7-49BC-3D07-32D3CC1B6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92953F4-7D71-1042-B549-BBFD80000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EEB2B93-80F9-7724-2DA9-6A588BF4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2607352-A0D0-3C4A-6A97-D363BD63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917C00B-9721-BB52-032D-3190B8F4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812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D9BFC3-FE05-0A9B-D080-BA44223F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D038311-6072-F9D5-0C8D-F802FEEC3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D8F667A-2ED5-2240-EE7B-EA181DFCE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4ED599D-2E12-8B69-847B-2D8400A8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E494C2D-E377-AED1-363E-CF6DBD66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8D9DB34-D8C7-162D-56CA-9CDCD25B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003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23CB03-929E-2C64-1D85-A59907C7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942C493-1A34-83EA-15EC-D4DAB3C06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E34754-978C-1FC3-2CFF-62AE50FF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85780A-BB4C-14BD-2CCC-A2879BFA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3D1543-59A3-FD21-6E93-12AC3BBB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185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7C19997-0F7C-137A-DC9A-6863B0DBD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D4EE554-3898-AE71-0191-E9806302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7F15B9-69C1-AABA-3FDC-3A36238B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695149-FEC7-09DB-0860-CDB564EF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A6AA40C-E347-D032-EE8A-B2A826F5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314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615BF7F-FB66-BD72-EB8D-394B6320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009575B-7D88-BEC6-D9BF-D6CBB5D4B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4FB2F4A-491F-5380-8A37-88878F90E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C0849B-3A32-5A17-82CA-E68354EAA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D64207-371F-1E48-6D08-3A16F11E1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866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0118926-5ADC-2922-D866-4C1681C50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29" y="1669577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pl-PL" sz="8000" dirty="0"/>
              <a:t>Algorytm </a:t>
            </a:r>
            <a:br>
              <a:rPr lang="pl-PL" sz="8000" dirty="0"/>
            </a:br>
            <a:r>
              <a:rPr lang="pl-PL" sz="8000" dirty="0"/>
              <a:t>Greinera-</a:t>
            </a:r>
            <a:r>
              <a:rPr lang="pl-PL" sz="8000" dirty="0" err="1"/>
              <a:t>Hormanna</a:t>
            </a:r>
            <a:endParaRPr lang="pl-PL" sz="80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132AF76-E419-24E7-9283-B30CFADF4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381" y="3760783"/>
            <a:ext cx="9910295" cy="1281733"/>
          </a:xfrm>
        </p:spPr>
        <p:txBody>
          <a:bodyPr anchor="b">
            <a:normAutofit/>
          </a:bodyPr>
          <a:lstStyle/>
          <a:p>
            <a:pPr algn="l"/>
            <a:r>
              <a:rPr lang="pl-PL" dirty="0"/>
              <a:t>Obliczanie sumy i iloczynu dwóch wielokątów</a:t>
            </a:r>
          </a:p>
          <a:p>
            <a:pPr algn="l"/>
            <a:r>
              <a:rPr lang="pl-PL" dirty="0"/>
              <a:t>Błażej Żuk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7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978B2F7-152C-3816-2503-2B101ABA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pl-PL" sz="3700" dirty="0"/>
              <a:t>Iloczyn i suma dwóch wielokątów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0B43D9-F614-EDF0-9B25-BB9B3F5DC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pl-PL" sz="2000" dirty="0"/>
              <a:t>Zadanie polega na wyznaczeniu sumy oraz iloczynu dwóch wielokątów.</a:t>
            </a:r>
          </a:p>
          <a:p>
            <a:r>
              <a:rPr lang="pl-PL" sz="2000" dirty="0"/>
              <a:t>Iloczynem wielokątów jest zbiór wszystkich punktów należących do obu wielokątów.</a:t>
            </a:r>
          </a:p>
          <a:p>
            <a:r>
              <a:rPr lang="pl-PL" sz="2000" dirty="0"/>
              <a:t>Sumą wielokątów jest zbiór wszystkich punktów należących do któregokolwiek wielokąta.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 descr="Obraz zawierający linia, trójkąt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914BDC2A-3913-EA47-2F94-724BE3D8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26" y="581892"/>
            <a:ext cx="2971227" cy="251875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Obraz 7" descr="Obraz zawierający linia, trójkąt, origami&#10;&#10;Zawartość wygenerowana przez AI może być niepoprawna.">
            <a:extLst>
              <a:ext uri="{FF2B5EF4-FFF2-40B4-BE49-F238E27FC236}">
                <a16:creationId xmlns:a16="http://schemas.microsoft.com/office/drawing/2014/main" id="{F562B8F5-FA35-FA4E-8ECD-0F4AF203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355" y="3707894"/>
            <a:ext cx="2751704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0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7179D70-8C67-215E-0891-27EF52FA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Założenia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D17319-8676-A14F-BA78-6EA3ABDF4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31" y="2704014"/>
            <a:ext cx="10624889" cy="3124658"/>
          </a:xfrm>
        </p:spPr>
        <p:txBody>
          <a:bodyPr anchor="ctr">
            <a:normAutofit/>
          </a:bodyPr>
          <a:lstStyle/>
          <a:p>
            <a:r>
              <a:rPr lang="pl-PL" sz="2400" dirty="0"/>
              <a:t> Każdy wielokąt jest prosty (nie posiada dziur oraz nie przecina samego siebie),</a:t>
            </a:r>
          </a:p>
          <a:p>
            <a:r>
              <a:rPr lang="pl-PL" sz="2400" dirty="0"/>
              <a:t> Krawędzie wielokątów nie nachodzą na siebie,</a:t>
            </a:r>
          </a:p>
          <a:p>
            <a:r>
              <a:rPr lang="pl-PL" sz="2400" dirty="0"/>
              <a:t> Wierzchołek jednego wielokąta nie leży na krawędzi drugiego wielokąta,</a:t>
            </a:r>
          </a:p>
          <a:p>
            <a:r>
              <a:rPr lang="pl-PL" sz="2400" dirty="0"/>
              <a:t> Żadna para wierzchołków nie posiada takiej samej współrzędnej 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30313C7-9F71-AB6D-D24F-F084AC38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l-PL" sz="3700" dirty="0"/>
              <a:t>Położenie punktu względem wielokąta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0D7D26-F01F-A506-D08F-04A0E1C95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Metoda „</a:t>
            </a:r>
            <a:r>
              <a:rPr lang="pl-PL" sz="2000"/>
              <a:t>ray</a:t>
            </a:r>
            <a:r>
              <a:rPr lang="pl-PL" sz="2000" dirty="0"/>
              <a:t>-casting” służy do sprawdzania, czy dany punkt leży wewnątrz wielokąta. </a:t>
            </a:r>
          </a:p>
          <a:p>
            <a:pPr marL="0" indent="0">
              <a:buNone/>
            </a:pPr>
            <a:r>
              <a:rPr lang="pl-PL" sz="2000" dirty="0"/>
              <a:t>Od badanego punktu rzutowany jest poziomy promień w prawo (do wystarczająco dużej wartości x). Zliczana jest liczba przecięć tego promienia z krawędziami wielokąta.</a:t>
            </a:r>
          </a:p>
          <a:p>
            <a:pPr marL="0" indent="0">
              <a:buNone/>
            </a:pPr>
            <a:r>
              <a:rPr lang="pl-PL" sz="2000" dirty="0"/>
              <a:t>Nieparzysta liczba oznacza, że punkt leży wewnątrz wielokąta, a parzysta oznacza, że leży na zewnątrz.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63E8FFE-3ED1-82E8-1F2E-F09C7752B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2086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9A56A-70B2-B684-F5FA-FBD258E2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pl-PL" sz="5400" dirty="0"/>
              <a:t>Algorytm Greinera-</a:t>
            </a:r>
            <a:r>
              <a:rPr lang="pl-PL" sz="5400" dirty="0" err="1"/>
              <a:t>Hormanna</a:t>
            </a:r>
            <a:endParaRPr lang="pl-PL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E56D77-4FE5-1641-E09B-C7C2C0E5F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Algorytm składa się z trzech etapów:</a:t>
            </a:r>
          </a:p>
          <a:p>
            <a:pPr marL="0" indent="0">
              <a:buNone/>
            </a:pPr>
            <a:br>
              <a:rPr lang="pl-PL" sz="2400" dirty="0"/>
            </a:br>
            <a:r>
              <a:rPr lang="pl-PL" sz="2400" dirty="0"/>
              <a:t>1. Wyznaczenie przecięć wielokątów,</a:t>
            </a:r>
          </a:p>
          <a:p>
            <a:pPr marL="0" indent="0">
              <a:buNone/>
            </a:pPr>
            <a:r>
              <a:rPr lang="pl-PL" sz="2400" dirty="0"/>
              <a:t>2. Oznaczenie przecięć jako „punkty wejścia” lub „punkty wyjścia”,</a:t>
            </a:r>
          </a:p>
          <a:p>
            <a:pPr marL="0" indent="0">
              <a:buNone/>
            </a:pPr>
            <a:r>
              <a:rPr lang="pl-PL" sz="2400" dirty="0"/>
              <a:t>3. Konstrukcja iloczynu lub sumy.</a:t>
            </a:r>
          </a:p>
          <a:p>
            <a:pPr marL="0" indent="0">
              <a:buNone/>
            </a:pPr>
            <a:r>
              <a:rPr lang="pl-PL" sz="2400" dirty="0"/>
              <a:t>Wynikiem algorytmu jest zbiór wielokątów tworzących iloczyn/sumę.</a:t>
            </a:r>
          </a:p>
        </p:txBody>
      </p:sp>
    </p:spTree>
    <p:extLst>
      <p:ext uri="{BB962C8B-B14F-4D97-AF65-F5344CB8AC3E}">
        <p14:creationId xmlns:p14="http://schemas.microsoft.com/office/powerpoint/2010/main" val="58874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804FEA-64E1-6D87-E934-9DF7144F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 dirty="0"/>
              <a:t>Wyznaczenie przecięć wielokątów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DAA0BD-7C29-0E72-AF35-5FD82563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4381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W celu wyznaczenia przecięć można użyć prostego algorytmu wyczerpującego – sprawdzamy każdą krawędź pierwszego wielokąta ze wszystkimi krawędziami drugiego wielokąta. </a:t>
            </a:r>
          </a:p>
          <a:p>
            <a:pPr marL="0" indent="0">
              <a:buNone/>
            </a:pPr>
            <a:r>
              <a:rPr lang="pl-PL" sz="2400" dirty="0"/>
              <a:t>Po znalezieniu przecięć wstawiamy je w odpowiednim miejscu do struktury przechowującej wielokąt.</a:t>
            </a:r>
          </a:p>
          <a:p>
            <a:pPr marL="0" indent="0">
              <a:buNone/>
            </a:pPr>
            <a:endParaRPr lang="pl-P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09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E068E6A-A7D8-3AAF-32AA-C93EDB14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25" y="707301"/>
            <a:ext cx="11026865" cy="1188950"/>
          </a:xfrm>
        </p:spPr>
        <p:txBody>
          <a:bodyPr anchor="b">
            <a:noAutofit/>
          </a:bodyPr>
          <a:lstStyle/>
          <a:p>
            <a:r>
              <a:rPr lang="pl-PL" sz="3200" dirty="0"/>
              <a:t>Oznaczenie przecięć jako „punkty wejścia” lub „punkty wyjścia”</a:t>
            </a:r>
            <a:br>
              <a:rPr lang="pl-PL" sz="3200" dirty="0"/>
            </a:br>
            <a:endParaRPr lang="pl-PL" sz="3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030294-5861-A53E-A12E-F4E0450A9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Dla każdego punktu przecięcia w danym wielokącie określane jest, czy jest to "punkt wejścia" do drugiego wielokąta, czy "punkt wyjścia". </a:t>
            </a:r>
          </a:p>
          <a:p>
            <a:pPr marL="0" indent="0">
              <a:buNone/>
            </a:pPr>
            <a:r>
              <a:rPr lang="pl-PL" sz="2400" dirty="0"/>
              <a:t>W tym celu przechodzimy po wszystkich wierzchołkach wielokąta - jeśli w danym momencie znajdujemy się na zewnątrz drugiego wielokąta, to wiemy, że następne przecięcie będzie wejściem. </a:t>
            </a:r>
          </a:p>
          <a:p>
            <a:pPr marL="0" indent="0">
              <a:buNone/>
            </a:pPr>
            <a:r>
              <a:rPr lang="pl-PL" sz="2400" dirty="0"/>
              <a:t>Analogicznie, jeśli jesteśmy wewnątrz drugiego wielokąta, to następne przecięcie będzie punktem wyjścia.</a:t>
            </a:r>
          </a:p>
        </p:txBody>
      </p:sp>
    </p:spTree>
    <p:extLst>
      <p:ext uri="{BB962C8B-B14F-4D97-AF65-F5344CB8AC3E}">
        <p14:creationId xmlns:p14="http://schemas.microsoft.com/office/powerpoint/2010/main" val="91881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diagram, linia, Wykres&#10;&#10;Zawartość wygenerowana przez AI może być niepoprawna.">
            <a:extLst>
              <a:ext uri="{FF2B5EF4-FFF2-40B4-BE49-F238E27FC236}">
                <a16:creationId xmlns:a16="http://schemas.microsoft.com/office/drawing/2014/main" id="{3D66A446-55F3-BFE3-185D-7B1F1BFB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16240"/>
            <a:ext cx="5291666" cy="5225519"/>
          </a:xfrm>
          <a:prstGeom prst="rect">
            <a:avLst/>
          </a:prstGeom>
        </p:spPr>
      </p:pic>
      <p:pic>
        <p:nvPicPr>
          <p:cNvPr id="7" name="Obraz 6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34D34A7B-651A-2D16-1C8C-E17291F0C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829469"/>
            <a:ext cx="5291667" cy="519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E0B1018-D933-22C5-6441-07205DDF7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pl-PL" sz="5400" dirty="0"/>
              <a:t>Konstrukcja iloczynu i sumy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A40C116-1B6E-6E24-B739-B5191B025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Zaczynając od dowolnego punktu przecięcia, przechodzimy wzdłuż wielokąta zgodnie z regułą:   </a:t>
            </a:r>
          </a:p>
          <a:p>
            <a:pPr>
              <a:buFontTx/>
              <a:buChar char="-"/>
            </a:pPr>
            <a:r>
              <a:rPr lang="pl-PL" sz="2400" dirty="0"/>
              <a:t>dla iloczynu: przy wejściu idziemy do przodu, przy wyjściu do tyłu,</a:t>
            </a:r>
          </a:p>
          <a:p>
            <a:pPr>
              <a:buFontTx/>
              <a:buChar char="-"/>
            </a:pPr>
            <a:r>
              <a:rPr lang="pl-PL" sz="2400" dirty="0"/>
              <a:t>dla sumy: przy wejściu idziemy do tyłu, przy wyjściu do przodu.   </a:t>
            </a:r>
          </a:p>
          <a:p>
            <a:pPr marL="0" indent="0">
              <a:buNone/>
            </a:pPr>
            <a:r>
              <a:rPr lang="pl-PL" sz="2400" dirty="0"/>
              <a:t>Po osiągnięciu kolejnego punktu przecięcia przechodzimy na drugi wielokąt.</a:t>
            </a:r>
          </a:p>
          <a:p>
            <a:pPr marL="0" indent="0">
              <a:buNone/>
            </a:pPr>
            <a:r>
              <a:rPr lang="pl-PL" sz="2400" dirty="0"/>
              <a:t>Proces powtarzany jest, aż wszystkie przecięcia zostaną odwiedzone.</a:t>
            </a:r>
          </a:p>
        </p:txBody>
      </p:sp>
    </p:spTree>
    <p:extLst>
      <p:ext uri="{BB962C8B-B14F-4D97-AF65-F5344CB8AC3E}">
        <p14:creationId xmlns:p14="http://schemas.microsoft.com/office/powerpoint/2010/main" val="292823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464A3F88-6BC9-1139-DBBA-3F0961CE7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16240"/>
            <a:ext cx="5291666" cy="5225519"/>
          </a:xfrm>
          <a:prstGeom prst="rect">
            <a:avLst/>
          </a:prstGeom>
        </p:spPr>
      </p:pic>
      <p:pic>
        <p:nvPicPr>
          <p:cNvPr id="8" name="Obraz 7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FEE53DA7-88D8-3654-7939-D2934D771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816240"/>
            <a:ext cx="5291667" cy="52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4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5E77F7-BD97-44DE-9F09-BB8EFA44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l-PL" sz="3700"/>
              <a:t>Obsługa dziur w sumie</a:t>
            </a:r>
            <a:endParaRPr lang="pl-PL" sz="3700" dirty="0"/>
          </a:p>
        </p:txBody>
      </p:sp>
      <p:grpSp>
        <p:nvGrpSpPr>
          <p:cNvPr id="57" name="Group 4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4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CCB525-4236-2A24-E87E-810AC6BED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W niektórych przypadkach suma wielokątów będzie posiadała dziury. </a:t>
            </a:r>
            <a:br>
              <a:rPr lang="pl-PL" sz="2000" dirty="0"/>
            </a:br>
            <a:r>
              <a:rPr lang="pl-PL" sz="2000" dirty="0"/>
              <a:t>W takich przypadkach zwróconym wynikiem algorytmu będzie wielokąt „zewnętrzny”, a także wielokąty „wewnętrzne” – tworzące dziury.</a:t>
            </a:r>
          </a:p>
          <a:p>
            <a:pPr marL="0" indent="0">
              <a:buNone/>
            </a:pPr>
            <a:r>
              <a:rPr lang="pl-PL" sz="2000" dirty="0"/>
              <a:t>W celu poprawnego wyznaczenia obszaru sumy należy odjąć od obszaru wielokąta zewnętrznego obszary wielokątów wewnętrznych.</a:t>
            </a:r>
          </a:p>
          <a:p>
            <a:pPr marL="0" indent="0">
              <a:buNone/>
            </a:pPr>
            <a:r>
              <a:rPr lang="pl-PL" sz="2000" dirty="0"/>
              <a:t>Aby sprawdzić, które wielokąty są wewnętrzne, a które zewnętrzne, można użyć metody </a:t>
            </a:r>
            <a:r>
              <a:rPr lang="pl-PL" sz="2000" dirty="0" err="1"/>
              <a:t>ray</a:t>
            </a:r>
            <a:r>
              <a:rPr lang="pl-PL" sz="2000" dirty="0"/>
              <a:t>-castingu.</a:t>
            </a:r>
          </a:p>
        </p:txBody>
      </p:sp>
      <p:sp>
        <p:nvSpPr>
          <p:cNvPr id="60" name="Rectangle 5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 descr="Obraz zawierający diagram, linia, Wykres, Prostokąt&#10;&#10;Zawartość wygenerowana przez AI może być niepoprawna.">
            <a:extLst>
              <a:ext uri="{FF2B5EF4-FFF2-40B4-BE49-F238E27FC236}">
                <a16:creationId xmlns:a16="http://schemas.microsoft.com/office/drawing/2014/main" id="{B36EA472-B532-307E-2D8D-5FD680EE2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1838"/>
          <a:stretch>
            <a:fillRect/>
          </a:stretch>
        </p:blipFill>
        <p:spPr>
          <a:xfrm>
            <a:off x="5977788" y="799034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73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282245-91E1-D560-F026-2ABA9218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Struktury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159382-1BB4-9CC0-F435-4BBCF8554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661"/>
            <a:ext cx="10515600" cy="50262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l-PL" dirty="0"/>
              <a:t>Wielokąt jest reprezentowany przez dwukierunkową listę cykliczną, której elementami są oryginalne wierzchołki wielokątów oraz punkty przecięcia.</a:t>
            </a:r>
            <a:br>
              <a:rPr lang="pl-PL" dirty="0"/>
            </a:br>
            <a:endParaRPr lang="pl-PL" dirty="0"/>
          </a:p>
          <a:p>
            <a:pPr marL="0" indent="0">
              <a:buNone/>
            </a:pPr>
            <a:r>
              <a:rPr lang="pl-PL" dirty="0"/>
              <a:t>Wierzchołki są przechowywane w strukturze posiadającej następujące atrybuty:</a:t>
            </a:r>
          </a:p>
          <a:p>
            <a:r>
              <a:rPr lang="pl-PL" dirty="0"/>
              <a:t>współrzędne wierzchołka,</a:t>
            </a:r>
          </a:p>
          <a:p>
            <a:r>
              <a:rPr lang="pl-PL" dirty="0"/>
              <a:t>indeks (dla oryginalnych wierzchołków wielokąta)</a:t>
            </a:r>
          </a:p>
          <a:p>
            <a:r>
              <a:rPr lang="pl-PL" dirty="0"/>
              <a:t>wskaźniki na poprzedni i następny wierzchołek wielokąta,</a:t>
            </a:r>
          </a:p>
          <a:p>
            <a:r>
              <a:rPr lang="pl-PL" dirty="0"/>
              <a:t>flagi: czy wierzchołek jest punktem przecięcia, czy jest wejściem, czy jest wyjściem,</a:t>
            </a:r>
          </a:p>
          <a:p>
            <a:r>
              <a:rPr lang="pl-PL" dirty="0"/>
              <a:t>wskaźnik na odpowiadający punkt przecięcia w drugim wielokącie (dla punktów przecięcia),</a:t>
            </a:r>
          </a:p>
          <a:p>
            <a:r>
              <a:rPr lang="pl-PL" dirty="0"/>
              <a:t>parametr α (dla punktów przecięcia).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Parametr α określa położenie punktu przecięcia na danej krawędzi („jak daleko” na tej krawędzi się znajduje).  </a:t>
            </a:r>
          </a:p>
          <a:p>
            <a:pPr marL="0" indent="0">
              <a:buNone/>
            </a:pPr>
            <a:r>
              <a:rPr lang="pl-PL" dirty="0"/>
              <a:t>Parametr ten jest potrzebny aby wstawić przecięcia do wielokątów w odpowiedniej kolejności.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84019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6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ymbol zastępczy zawartości 6" descr="Obraz zawierający tekst, diagram, linia, Plan&#10;&#10;Zawartość wygenerowana przez AI może być niepoprawna.">
            <a:extLst>
              <a:ext uri="{FF2B5EF4-FFF2-40B4-BE49-F238E27FC236}">
                <a16:creationId xmlns:a16="http://schemas.microsoft.com/office/drawing/2014/main" id="{543C678F-EF93-D402-93F4-B3590CDC3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" r="1" b="1080"/>
          <a:stretch>
            <a:fillRect/>
          </a:stretch>
        </p:blipFill>
        <p:spPr>
          <a:xfrm>
            <a:off x="1143041" y="643467"/>
            <a:ext cx="990591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29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2509BBA-6636-DC37-C2FF-A32B9C9D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Przypadki specjalne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AB3E5D3-AF4C-0BF2-2502-CF1BD917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87602"/>
            <a:ext cx="9941319" cy="3124658"/>
          </a:xfrm>
        </p:spPr>
        <p:txBody>
          <a:bodyPr anchor="ctr">
            <a:normAutofit/>
          </a:bodyPr>
          <a:lstStyle/>
          <a:p>
            <a:r>
              <a:rPr lang="pl-PL" sz="2400" dirty="0"/>
              <a:t>Jeśli wielokąty się nie przecinają, sprawdzane jest położenie jednego wielokąta względem drugiego (za pomocą </a:t>
            </a:r>
            <a:r>
              <a:rPr lang="pl-PL" sz="2400" dirty="0" err="1"/>
              <a:t>ray</a:t>
            </a:r>
            <a:r>
              <a:rPr lang="pl-PL" sz="2400" dirty="0"/>
              <a:t>-castingu). </a:t>
            </a:r>
          </a:p>
          <a:p>
            <a:r>
              <a:rPr lang="pl-PL" sz="2400" dirty="0"/>
              <a:t>Jeśli jeden wielokąt leży wewnątrz drugiego, zwracany jest odpowiedni wielokąt.</a:t>
            </a:r>
          </a:p>
          <a:p>
            <a:r>
              <a:rPr lang="pl-PL" sz="2400" dirty="0"/>
              <a:t>Jeśli wielokąty są rozłączne, to w przypadku iloczynu zwracany jest zbiór pusty, a w przypadku sumy oba wielokąty.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324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diagram, linia, design&#10;&#10;Zawartość wygenerowana przez AI może być niepoprawna.">
            <a:extLst>
              <a:ext uri="{FF2B5EF4-FFF2-40B4-BE49-F238E27FC236}">
                <a16:creationId xmlns:a16="http://schemas.microsoft.com/office/drawing/2014/main" id="{7E29ECB1-EE44-06ED-5414-2EEA5728A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09626"/>
            <a:ext cx="5291666" cy="5238748"/>
          </a:xfrm>
          <a:prstGeom prst="rect">
            <a:avLst/>
          </a:prstGeom>
        </p:spPr>
      </p:pic>
      <p:pic>
        <p:nvPicPr>
          <p:cNvPr id="7" name="Obraz 6" descr="Obraz zawierający diagram, linia, origami&#10;&#10;Zawartość wygenerowana przez AI może być niepoprawna.">
            <a:extLst>
              <a:ext uri="{FF2B5EF4-FFF2-40B4-BE49-F238E27FC236}">
                <a16:creationId xmlns:a16="http://schemas.microsoft.com/office/drawing/2014/main" id="{4C1DEBA3-736A-C139-E3B6-F2992D0D7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809625"/>
            <a:ext cx="5291667" cy="523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0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diagram, szkic, linia, Wykres&#10;&#10;Zawartość wygenerowana przez AI może być niepoprawna.">
            <a:extLst>
              <a:ext uri="{FF2B5EF4-FFF2-40B4-BE49-F238E27FC236}">
                <a16:creationId xmlns:a16="http://schemas.microsoft.com/office/drawing/2014/main" id="{CD0EAAA7-5B53-B564-F6DA-F751723A5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34" y="797683"/>
            <a:ext cx="5342591" cy="5262634"/>
          </a:xfrm>
          <a:prstGeom prst="rect">
            <a:avLst/>
          </a:prstGeom>
        </p:spPr>
      </p:pic>
      <p:pic>
        <p:nvPicPr>
          <p:cNvPr id="6" name="Obraz 5" descr="Obraz zawierający diagram, origami&#10;&#10;Zawartość wygenerowana przez AI może być niepoprawna.">
            <a:extLst>
              <a:ext uri="{FF2B5EF4-FFF2-40B4-BE49-F238E27FC236}">
                <a16:creationId xmlns:a16="http://schemas.microsoft.com/office/drawing/2014/main" id="{569BB7D0-42DD-339D-C1F1-81498CB3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38" y="797683"/>
            <a:ext cx="5298828" cy="526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95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6B9FD93-1C0E-834B-7F68-7390C33A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171281"/>
            <a:ext cx="9849751" cy="876475"/>
          </a:xfrm>
        </p:spPr>
        <p:txBody>
          <a:bodyPr anchor="b">
            <a:normAutofit/>
          </a:bodyPr>
          <a:lstStyle/>
          <a:p>
            <a:r>
              <a:rPr lang="pl-PL" sz="5400" dirty="0"/>
              <a:t>Złożoność czasowa i pamięciowa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682FBD-F85A-3A71-DE7A-BF332EF7E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289" y="1343496"/>
            <a:ext cx="9567419" cy="4933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Złożoność czasowa:</a:t>
            </a:r>
          </a:p>
          <a:p>
            <a:r>
              <a:rPr lang="pl-PL" sz="2000" dirty="0"/>
              <a:t>Wyznaczenie przecięć wielokątów: O(n * m),</a:t>
            </a:r>
          </a:p>
          <a:p>
            <a:r>
              <a:rPr lang="pl-PL" sz="2000" dirty="0"/>
              <a:t>Oznaczenie przecięć jako „punkty wejścia” lub „punkty wyjścia”: O(n + m + p),</a:t>
            </a:r>
          </a:p>
          <a:p>
            <a:r>
              <a:rPr lang="pl-PL" sz="2000" dirty="0"/>
              <a:t>Konstrukcja iloczynu i sumy: O(n + m + p),</a:t>
            </a:r>
          </a:p>
          <a:p>
            <a:r>
              <a:rPr lang="pl-PL" sz="2000" dirty="0"/>
              <a:t>Razem: O(n * </a:t>
            </a:r>
            <a:r>
              <a:rPr lang="pl-PL" sz="2000"/>
              <a:t>m).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Przy użyciu algorytmu zamiatania do znajdowania przecięć można osiągnąć</a:t>
            </a:r>
            <a:br>
              <a:rPr lang="pl-PL" sz="2000" dirty="0"/>
            </a:br>
            <a:r>
              <a:rPr lang="pl-PL" sz="2000" dirty="0"/>
              <a:t>złożoność O((n + m + p) log (n + m)).</a:t>
            </a:r>
            <a:br>
              <a:rPr lang="pl-PL" sz="2000" dirty="0"/>
            </a:br>
            <a:endParaRPr lang="pl-PL" sz="2000" dirty="0"/>
          </a:p>
          <a:p>
            <a:pPr marL="0" indent="0">
              <a:buNone/>
            </a:pPr>
            <a:r>
              <a:rPr lang="pl-PL" sz="2000" dirty="0"/>
              <a:t>Złożoność pamięciowa: O(n + m + p).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dirty="0"/>
              <a:t>n – liczba krawędzi pierwszego wielokąta,</a:t>
            </a:r>
          </a:p>
          <a:p>
            <a:pPr marL="0" indent="0">
              <a:buNone/>
            </a:pPr>
            <a:r>
              <a:rPr lang="pl-PL" sz="2000" dirty="0"/>
              <a:t>m – liczba krawędzi drugiego wielokąta,</a:t>
            </a:r>
          </a:p>
          <a:p>
            <a:pPr marL="0" indent="0">
              <a:buNone/>
            </a:pPr>
            <a:r>
              <a:rPr lang="pl-PL" sz="2000" dirty="0"/>
              <a:t>p – liczba przecięć.</a:t>
            </a:r>
          </a:p>
          <a:p>
            <a:pPr marL="0" indent="0">
              <a:buNone/>
            </a:pPr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2515939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CE3CD98-9397-E29B-FF0F-BEDC251A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99EAC4-12C6-1846-02CB-A72B1D87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7522"/>
            <a:ext cx="10148147" cy="3124658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pl-PL" sz="2400" dirty="0"/>
              <a:t>Günther Greiner, Kai </a:t>
            </a:r>
            <a:r>
              <a:rPr lang="pl-PL" sz="2400" dirty="0" err="1"/>
              <a:t>Hormann</a:t>
            </a:r>
            <a:r>
              <a:rPr lang="pl-PL" sz="2400" dirty="0"/>
              <a:t> (1998). "</a:t>
            </a:r>
            <a:r>
              <a:rPr lang="pl-PL" sz="2400" dirty="0" err="1"/>
              <a:t>Efficient</a:t>
            </a:r>
            <a:r>
              <a:rPr lang="pl-PL" sz="2400" dirty="0"/>
              <a:t> </a:t>
            </a:r>
            <a:r>
              <a:rPr lang="pl-PL" sz="2400" dirty="0" err="1"/>
              <a:t>clipping</a:t>
            </a:r>
            <a:r>
              <a:rPr lang="pl-PL" sz="2400" dirty="0"/>
              <a:t> of </a:t>
            </a:r>
            <a:r>
              <a:rPr lang="pl-PL" sz="2400" dirty="0" err="1"/>
              <a:t>arbitrary</a:t>
            </a:r>
            <a:r>
              <a:rPr lang="pl-PL" sz="2400" dirty="0"/>
              <a:t> </a:t>
            </a:r>
            <a:r>
              <a:rPr lang="pl-PL" sz="2400" dirty="0" err="1"/>
              <a:t>polygons</a:t>
            </a:r>
            <a:r>
              <a:rPr lang="pl-PL" sz="2400" dirty="0"/>
              <a:t>". _ACM </a:t>
            </a:r>
            <a:r>
              <a:rPr lang="pl-PL" sz="2400" dirty="0" err="1"/>
              <a:t>Transactions</a:t>
            </a:r>
            <a:r>
              <a:rPr lang="pl-PL" sz="2400" dirty="0"/>
              <a:t> on Graphics_, 17(2), 71–83. </a:t>
            </a:r>
          </a:p>
          <a:p>
            <a:pPr marL="514350" indent="-514350">
              <a:buAutoNum type="arabicPeriod"/>
            </a:pPr>
            <a:r>
              <a:rPr lang="pl-PL" sz="2400" dirty="0"/>
              <a:t> https://en.wikipedia.org/wiki/Point_in_polygon#Ray_casting_algorithm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4199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790</Words>
  <Application>Microsoft Office PowerPoint</Application>
  <PresentationFormat>Panoramiczny</PresentationFormat>
  <Paragraphs>69</Paragraphs>
  <Slides>18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Motyw pakietu Office</vt:lpstr>
      <vt:lpstr>Algorytm  Greinera-Hormanna</vt:lpstr>
      <vt:lpstr>Iloczyn i suma dwóch wielokątów</vt:lpstr>
      <vt:lpstr>Założenia</vt:lpstr>
      <vt:lpstr>Położenie punktu względem wielokąta</vt:lpstr>
      <vt:lpstr>Algorytm Greinera-Hormanna</vt:lpstr>
      <vt:lpstr>Wyznaczenie przecięć wielokątów</vt:lpstr>
      <vt:lpstr>Oznaczenie przecięć jako „punkty wejścia” lub „punkty wyjścia” </vt:lpstr>
      <vt:lpstr>Prezentacja programu PowerPoint</vt:lpstr>
      <vt:lpstr>Konstrukcja iloczynu i sumy</vt:lpstr>
      <vt:lpstr>Prezentacja programu PowerPoint</vt:lpstr>
      <vt:lpstr>Obsługa dziur w sumie</vt:lpstr>
      <vt:lpstr>Struktury danych</vt:lpstr>
      <vt:lpstr>Prezentacja programu PowerPoint</vt:lpstr>
      <vt:lpstr>Przypadki specjalne</vt:lpstr>
      <vt:lpstr>Prezentacja programu PowerPoint</vt:lpstr>
      <vt:lpstr>Prezentacja programu PowerPoint</vt:lpstr>
      <vt:lpstr>Złożoność czasowa i pamięciowa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Błażej Żuk</dc:creator>
  <cp:lastModifiedBy>Błażej Żuk</cp:lastModifiedBy>
  <cp:revision>16</cp:revision>
  <dcterms:created xsi:type="dcterms:W3CDTF">2026-01-05T16:44:29Z</dcterms:created>
  <dcterms:modified xsi:type="dcterms:W3CDTF">2026-01-06T16:23:51Z</dcterms:modified>
</cp:coreProperties>
</file>